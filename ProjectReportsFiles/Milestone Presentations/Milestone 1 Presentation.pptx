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4" r:id="rId4"/>
  </p:sldMasterIdLst>
  <p:sldIdLst>
    <p:sldId id="256" r:id="rId5"/>
    <p:sldId id="257" r:id="rId6"/>
    <p:sldId id="259" r:id="rId7"/>
    <p:sldId id="258" r:id="rId8"/>
    <p:sldId id="260" r:id="rId9"/>
    <p:sldId id="261" r:id="rId10"/>
    <p:sldId id="262" r:id="rId11"/>
    <p:sldId id="271" r:id="rId12"/>
    <p:sldId id="266" r:id="rId13"/>
    <p:sldId id="263" r:id="rId14"/>
    <p:sldId id="265" r:id="rId15"/>
    <p:sldId id="273" r:id="rId16"/>
    <p:sldId id="264" r:id="rId17"/>
    <p:sldId id="274" r:id="rId18"/>
    <p:sldId id="268" r:id="rId19"/>
    <p:sldId id="269" r:id="rId20"/>
    <p:sldId id="270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A4B4B6-F1EA-8751-E351-3F19434EF98E}" v="2" dt="2026-02-26T00:34:16.530"/>
    <p1510:client id="{9D6DA56F-53DB-7DF1-123F-9CB357C280DF}" v="1" dt="2026-02-26T21:12:10.558"/>
    <p1510:client id="{CF60A1C8-BC9B-2C43-7141-4C911E24B833}" v="1" dt="2026-02-26T23:11:57.043"/>
    <p1510:client id="{E63FE14A-E5EF-3B5C-8059-AB7CDF9B75FF}" v="1" dt="2026-02-26T23:13:58.0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871D8-2BBF-45D4-9AD4-FC5A108B4EBD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0D14E-DF3E-4D4C-ACA4-E077BFDC6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138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871D8-2BBF-45D4-9AD4-FC5A108B4EBD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0D14E-DF3E-4D4C-ACA4-E077BFDC6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124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871D8-2BBF-45D4-9AD4-FC5A108B4EBD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0D14E-DF3E-4D4C-ACA4-E077BFDC6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797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871D8-2BBF-45D4-9AD4-FC5A108B4EBD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0D14E-DF3E-4D4C-ACA4-E077BFDC6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220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871D8-2BBF-45D4-9AD4-FC5A108B4EBD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0D14E-DF3E-4D4C-ACA4-E077BFDC6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888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871D8-2BBF-45D4-9AD4-FC5A108B4EBD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0D14E-DF3E-4D4C-ACA4-E077BFDC6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882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871D8-2BBF-45D4-9AD4-FC5A108B4EBD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0D14E-DF3E-4D4C-ACA4-E077BFDC6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781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871D8-2BBF-45D4-9AD4-FC5A108B4EBD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0D14E-DF3E-4D4C-ACA4-E077BFDC6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807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871D8-2BBF-45D4-9AD4-FC5A108B4EBD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0D14E-DF3E-4D4C-ACA4-E077BFDC6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808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871D8-2BBF-45D4-9AD4-FC5A108B4EBD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0D14E-DF3E-4D4C-ACA4-E077BFDC6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124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871D8-2BBF-45D4-9AD4-FC5A108B4EBD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0D14E-DF3E-4D4C-ACA4-E077BFDC639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551861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871D8-2BBF-45D4-9AD4-FC5A108B4EBD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0D14E-DF3E-4D4C-ACA4-E077BFDC6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4318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871D8-2BBF-45D4-9AD4-FC5A108B4EBD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0D14E-DF3E-4D4C-ACA4-E077BFDC639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031570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871D8-2BBF-45D4-9AD4-FC5A108B4EBD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0D14E-DF3E-4D4C-ACA4-E077BFDC6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9205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871D8-2BBF-45D4-9AD4-FC5A108B4EBD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0D14E-DF3E-4D4C-ACA4-E077BFDC6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8385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871D8-2BBF-45D4-9AD4-FC5A108B4EBD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0D14E-DF3E-4D4C-ACA4-E077BFDC6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024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3871D8-2BBF-45D4-9AD4-FC5A108B4EBD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B10D14E-DF3E-4D4C-ACA4-E077BFDC6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112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6" r:id="rId2"/>
    <p:sldLayoutId id="2147483957" r:id="rId3"/>
    <p:sldLayoutId id="2147483958" r:id="rId4"/>
    <p:sldLayoutId id="2147483959" r:id="rId5"/>
    <p:sldLayoutId id="2147483960" r:id="rId6"/>
    <p:sldLayoutId id="2147483961" r:id="rId7"/>
    <p:sldLayoutId id="2147483962" r:id="rId8"/>
    <p:sldLayoutId id="2147483963" r:id="rId9"/>
    <p:sldLayoutId id="2147483964" r:id="rId10"/>
    <p:sldLayoutId id="2147483965" r:id="rId11"/>
    <p:sldLayoutId id="2147483966" r:id="rId12"/>
    <p:sldLayoutId id="2147483967" r:id="rId13"/>
    <p:sldLayoutId id="2147483968" r:id="rId14"/>
    <p:sldLayoutId id="2147483969" r:id="rId15"/>
    <p:sldLayoutId id="214748397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kennesawedu.sharepoint.com/:b:/r/sites/Team-IT7993-P12-SmartResumeScreeningGroup1/Shared%20Documents/General/Smart%20Resume%20Screening%20System%20(1).pdf?csf=1&amp;web=1&amp;e=vEG19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79423-48EC-A8FA-97ED-393AB46959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9400" y="2819397"/>
            <a:ext cx="7766936" cy="1646302"/>
          </a:xfrm>
          <a:noFill/>
        </p:spPr>
        <p:txBody>
          <a:bodyPr/>
          <a:lstStyle/>
          <a:p>
            <a:pPr algn="ctr"/>
            <a:r>
              <a:rPr lang="en-US">
                <a:solidFill>
                  <a:schemeClr val="accent1">
                    <a:lumMod val="50000"/>
                  </a:schemeClr>
                </a:solidFill>
                <a:latin typeface="Arial Nova Light" panose="020B0304020202020204" pitchFamily="34" charset="0"/>
              </a:rPr>
              <a:t>Smart Resume Screening and Interview Prep Assistant: Milestone 1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2E51B6-268C-C481-E74F-9F48C9A604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7000" y="4465699"/>
            <a:ext cx="8221133" cy="1841967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n-US" sz="1400">
                <a:solidFill>
                  <a:schemeClr val="accent1">
                    <a:lumMod val="75000"/>
                  </a:schemeClr>
                </a:solidFill>
                <a:latin typeface="Arial Nova Light" panose="020B0304020202020204" pitchFamily="34" charset="0"/>
              </a:rPr>
              <a:t>Kennesaw State University</a:t>
            </a:r>
          </a:p>
          <a:p>
            <a:pPr algn="ctr"/>
            <a:r>
              <a:rPr lang="en-US" sz="1400">
                <a:solidFill>
                  <a:schemeClr val="accent1">
                    <a:lumMod val="75000"/>
                  </a:schemeClr>
                </a:solidFill>
                <a:latin typeface="Arial Nova Light" panose="020B0304020202020204" pitchFamily="34" charset="0"/>
              </a:rPr>
              <a:t>IT 7993</a:t>
            </a:r>
          </a:p>
          <a:p>
            <a:pPr algn="ctr"/>
            <a:r>
              <a:rPr lang="en-US" sz="1400">
                <a:solidFill>
                  <a:schemeClr val="accent1">
                    <a:lumMod val="75000"/>
                  </a:schemeClr>
                </a:solidFill>
                <a:latin typeface="Arial Nova Light" panose="020B0304020202020204" pitchFamily="34" charset="0"/>
              </a:rPr>
              <a:t>Dr. Xiu</a:t>
            </a:r>
          </a:p>
          <a:p>
            <a:pPr algn="ctr"/>
            <a:r>
              <a:rPr lang="en-US" sz="1400">
                <a:solidFill>
                  <a:schemeClr val="accent1">
                    <a:lumMod val="75000"/>
                  </a:schemeClr>
                </a:solidFill>
                <a:latin typeface="Arial Nova Light" panose="020B0304020202020204" pitchFamily="34" charset="0"/>
              </a:rPr>
              <a:t>Group 2: </a:t>
            </a:r>
            <a:r>
              <a:rPr lang="en-US" sz="1400" err="1">
                <a:solidFill>
                  <a:schemeClr val="accent1">
                    <a:lumMod val="75000"/>
                  </a:schemeClr>
                </a:solidFill>
                <a:latin typeface="Arial Nova Light" panose="020B0304020202020204" pitchFamily="34" charset="0"/>
              </a:rPr>
              <a:t>Hanzhi</a:t>
            </a:r>
            <a:r>
              <a:rPr lang="en-US" sz="1400">
                <a:solidFill>
                  <a:schemeClr val="accent1">
                    <a:lumMod val="75000"/>
                  </a:schemeClr>
                </a:solidFill>
                <a:latin typeface="Arial Nova Light" panose="020B0304020202020204" pitchFamily="34" charset="0"/>
              </a:rPr>
              <a:t> Chen, Kawanda Gray, Brittany Frazier, Tomas King, &amp; Loreli Olien</a:t>
            </a:r>
          </a:p>
          <a:p>
            <a:pPr algn="ctr"/>
            <a:r>
              <a:rPr lang="en-US" sz="1400">
                <a:solidFill>
                  <a:schemeClr val="accent1">
                    <a:lumMod val="75000"/>
                  </a:schemeClr>
                </a:solidFill>
                <a:latin typeface="Arial Nova Light" panose="020B0304020202020204" pitchFamily="34" charset="0"/>
              </a:rPr>
              <a:t>February 2026</a:t>
            </a:r>
          </a:p>
          <a:p>
            <a:pPr algn="ctr"/>
            <a:r>
              <a:rPr lang="en-US" sz="1400">
                <a:solidFill>
                  <a:schemeClr val="accent1">
                    <a:lumMod val="75000"/>
                  </a:schemeClr>
                </a:solidFill>
                <a:latin typeface="Arial Nova Light" panose="020B0304020202020204" pitchFamily="34" charset="0"/>
              </a:rPr>
              <a:t>Project Website: https://github.com/KSU-Capstone-Group-P12/Smart_Resume_Screening/</a:t>
            </a:r>
          </a:p>
        </p:txBody>
      </p:sp>
    </p:spTree>
    <p:extLst>
      <p:ext uri="{BB962C8B-B14F-4D97-AF65-F5344CB8AC3E}">
        <p14:creationId xmlns:p14="http://schemas.microsoft.com/office/powerpoint/2010/main" val="1347543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1A6AF-1624-0C1B-54B2-3DCD4BCB8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Nova Light" panose="020B0304020202020204" pitchFamily="34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70E0F-241A-3C6E-1544-9E4F278D5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7800" y="1654838"/>
            <a:ext cx="9113135" cy="4678229"/>
          </a:xfrm>
        </p:spPr>
        <p:txBody>
          <a:bodyPr>
            <a:normAutofit fontScale="92500" lnSpcReduction="10000"/>
          </a:bodyPr>
          <a:lstStyle/>
          <a:p>
            <a:r>
              <a:rPr lang="en-US">
                <a:latin typeface="Arial Nova Light" panose="020B0304020202020204" pitchFamily="34" charset="0"/>
              </a:rPr>
              <a:t>Project Overview</a:t>
            </a:r>
          </a:p>
          <a:p>
            <a:r>
              <a:rPr lang="en-US">
                <a:latin typeface="Arial Nova Light" panose="020B0304020202020204" pitchFamily="34" charset="0"/>
              </a:rPr>
              <a:t>Milestone 1 Overview</a:t>
            </a:r>
          </a:p>
          <a:p>
            <a:r>
              <a:rPr lang="en-US">
                <a:latin typeface="Arial Nova Light" panose="020B0304020202020204" pitchFamily="34" charset="0"/>
              </a:rPr>
              <a:t>Functional Requirements</a:t>
            </a:r>
          </a:p>
          <a:p>
            <a:r>
              <a:rPr lang="en-US">
                <a:latin typeface="Arial Nova Light" panose="020B0304020202020204" pitchFamily="34" charset="0"/>
              </a:rPr>
              <a:t>Non-Functional Requirements</a:t>
            </a:r>
          </a:p>
          <a:p>
            <a:r>
              <a:rPr lang="en-US">
                <a:latin typeface="Arial Nova Light" panose="020B0304020202020204" pitchFamily="34" charset="0"/>
              </a:rPr>
              <a:t>Assumptions and Constraints</a:t>
            </a:r>
          </a:p>
          <a:p>
            <a:r>
              <a:rPr lang="en-US">
                <a:latin typeface="Arial Nova Light" panose="020B0304020202020204" pitchFamily="34" charset="0"/>
              </a:rPr>
              <a:t>Project Upkeep Costs</a:t>
            </a:r>
          </a:p>
          <a:p>
            <a:r>
              <a:rPr lang="en-US">
                <a:latin typeface="Arial Nova Light" panose="020B0304020202020204" pitchFamily="34" charset="0"/>
              </a:rPr>
              <a:t>UX Wireframe</a:t>
            </a:r>
          </a:p>
          <a:p>
            <a:r>
              <a:rPr lang="en-US">
                <a:latin typeface="Arial Nova Light" panose="020B0304020202020204" pitchFamily="34" charset="0"/>
              </a:rPr>
              <a:t>Recruiter Dashboard Design</a:t>
            </a:r>
          </a:p>
          <a:p>
            <a:r>
              <a:rPr lang="en-US">
                <a:latin typeface="Arial Nova Light" panose="020B0304020202020204" pitchFamily="34" charset="0"/>
              </a:rPr>
              <a:t>System Data Model Design</a:t>
            </a:r>
          </a:p>
          <a:p>
            <a:r>
              <a:rPr lang="en-US">
                <a:latin typeface="Arial Nova Light" panose="020B0304020202020204" pitchFamily="34" charset="0"/>
              </a:rPr>
              <a:t>Gantt Chart</a:t>
            </a:r>
          </a:p>
          <a:p>
            <a:r>
              <a:rPr lang="en-US">
                <a:latin typeface="Arial Nova Light" panose="020B0304020202020204" pitchFamily="34" charset="0"/>
              </a:rPr>
              <a:t>Tech Stack Decision and Justification</a:t>
            </a:r>
          </a:p>
          <a:p>
            <a:r>
              <a:rPr lang="en-US">
                <a:latin typeface="Arial Nova Light" panose="020B0304020202020204" pitchFamily="34" charset="0"/>
              </a:rPr>
              <a:t>Action Plan For Milestone 2</a:t>
            </a:r>
          </a:p>
          <a:p>
            <a:r>
              <a:rPr lang="en-US">
                <a:latin typeface="Arial Nova Light" panose="020B0304020202020204" pitchFamily="34" charset="0"/>
              </a:rPr>
              <a:t>Questions and Comments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025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80154-A53F-BBF5-08F6-A51B3A094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Nova Light" panose="020B0304020202020204" pitchFamily="34" charset="0"/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06A9E-FA4E-5425-E389-571FE629E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666" y="1151468"/>
            <a:ext cx="9203267" cy="51816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>
              <a:latin typeface="Arial Nova Light" panose="020B0304020202020204" pitchFamily="34" charset="0"/>
            </a:endParaRPr>
          </a:p>
          <a:p>
            <a:r>
              <a:rPr lang="en-US">
                <a:latin typeface="Arial Nova Light" panose="020B0304020202020204" pitchFamily="34" charset="0"/>
              </a:rPr>
              <a:t>The Smart Resume Screening &amp; Interview Preparation Assistant is a web-based decision-support application developed to improve structure, transparency, and consistency in the early stages of candidate evaluation.</a:t>
            </a:r>
          </a:p>
          <a:p>
            <a:r>
              <a:rPr lang="en-US">
                <a:latin typeface="Arial Nova Light" panose="020B0304020202020204" pitchFamily="34" charset="0"/>
              </a:rPr>
              <a:t>The system enables recruiters to upload resumes and input job descriptions, then performs semantic analysis to evaluate alignment between candidate qualifications and role requirements.</a:t>
            </a:r>
          </a:p>
          <a:p>
            <a:r>
              <a:rPr lang="en-US">
                <a:latin typeface="Arial Nova Light" panose="020B0304020202020204" pitchFamily="34" charset="0"/>
              </a:rPr>
              <a:t>Instead of relying solely on keyword matching, the system uses embedding-based similarity to assess candidates across defined categories including skills, professional experience, education, and project work.</a:t>
            </a:r>
          </a:p>
          <a:p>
            <a:r>
              <a:rPr lang="en-US">
                <a:latin typeface="Arial Nova Light" panose="020B0304020202020204" pitchFamily="34" charset="0"/>
              </a:rPr>
              <a:t>The application generates a structured candidate ranking along with explanations that clearly communicate why a candidate received a particular ranking.</a:t>
            </a:r>
          </a:p>
          <a:p>
            <a:r>
              <a:rPr lang="en-US">
                <a:latin typeface="Arial Nova Light" panose="020B0304020202020204" pitchFamily="34" charset="0"/>
              </a:rPr>
              <a:t>The system generates tailored interview questions designed to validate strengths and probe potential gaps identified during analysis.</a:t>
            </a:r>
          </a:p>
          <a:p>
            <a:r>
              <a:rPr lang="en-US">
                <a:latin typeface="Arial Nova Light" panose="020B0304020202020204" pitchFamily="34" charset="0"/>
              </a:rPr>
              <a:t>The system does not automatically reject or remove any candidate from consideration, preserving recruiter authority and decision-making control.</a:t>
            </a:r>
          </a:p>
        </p:txBody>
      </p:sp>
    </p:spTree>
    <p:extLst>
      <p:ext uri="{BB962C8B-B14F-4D97-AF65-F5344CB8AC3E}">
        <p14:creationId xmlns:p14="http://schemas.microsoft.com/office/powerpoint/2010/main" val="4172435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66A27-7841-CCAA-2B39-2524DAFE2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Nova Light" panose="020B0304020202020204" pitchFamily="34" charset="0"/>
              </a:rPr>
              <a:t>Milestone 1 Overview and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2EB0F-4ED4-B6B3-BE28-6E914B8EE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601" y="1930400"/>
            <a:ext cx="8348133" cy="4517362"/>
          </a:xfrm>
        </p:spPr>
        <p:txBody>
          <a:bodyPr>
            <a:normAutofit/>
          </a:bodyPr>
          <a:lstStyle/>
          <a:p>
            <a:r>
              <a:rPr lang="en-US">
                <a:latin typeface="Arial Nova Light" panose="020B0304020202020204" pitchFamily="34" charset="0"/>
              </a:rPr>
              <a:t>Milestone 1 focused on establishing the foundational planning and design components required for system development.</a:t>
            </a:r>
          </a:p>
          <a:p>
            <a:r>
              <a:rPr lang="en-US">
                <a:latin typeface="Arial Nova Light" panose="020B0304020202020204" pitchFamily="34" charset="0"/>
              </a:rPr>
              <a:t>The primary objectives included defining functional and non-functional requirements, developing initial UX wireframes, designing the system data model, selecting the technology stack, and setting up the GitHub repository.</a:t>
            </a:r>
          </a:p>
          <a:p>
            <a:r>
              <a:rPr lang="en-US">
                <a:latin typeface="Arial Nova Light" panose="020B0304020202020204" pitchFamily="34" charset="0"/>
              </a:rPr>
              <a:t>This milestone also required alignment with the project sponsor, clarification of scope boundaries, and formal documentation of assumptions and constraints.</a:t>
            </a:r>
          </a:p>
          <a:p>
            <a:r>
              <a:rPr lang="en-US">
                <a:latin typeface="Arial Nova Light" panose="020B0304020202020204" pitchFamily="34" charset="0"/>
              </a:rPr>
              <a:t>UX wireframes and dashboard design drafts are completed, with refinements planned prior to Milestone 2 implementation work.</a:t>
            </a:r>
          </a:p>
          <a:p>
            <a:r>
              <a:rPr lang="en-US">
                <a:latin typeface="Arial Nova Light" panose="020B0304020202020204" pitchFamily="34" charset="0"/>
              </a:rPr>
              <a:t>Overall, the project remains aligned with the academic milestone timeline and is positioned to transition into active development in the next phase.</a:t>
            </a:r>
          </a:p>
        </p:txBody>
      </p:sp>
    </p:spTree>
    <p:extLst>
      <p:ext uri="{BB962C8B-B14F-4D97-AF65-F5344CB8AC3E}">
        <p14:creationId xmlns:p14="http://schemas.microsoft.com/office/powerpoint/2010/main" val="1890079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2D0BA-B659-9C8F-115E-4AC90C90B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Nova Light" panose="020B0304020202020204" pitchFamily="34" charset="0"/>
              </a:rPr>
              <a:t>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85C21-D66A-6BAC-D9B3-429E014DA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667" y="1618722"/>
            <a:ext cx="9101666" cy="4519611"/>
          </a:xfrm>
        </p:spPr>
        <p:txBody>
          <a:bodyPr>
            <a:normAutofit fontScale="92500"/>
          </a:bodyPr>
          <a:lstStyle/>
          <a:p>
            <a:r>
              <a:rPr lang="en-US">
                <a:latin typeface="Arial Nova Light" panose="020B0304020202020204" pitchFamily="34" charset="0"/>
              </a:rPr>
              <a:t>Support resume uploads in PDF and Word (.docx) formats with machine-readable text extraction.</a:t>
            </a:r>
          </a:p>
          <a:p>
            <a:r>
              <a:rPr lang="en-US">
                <a:latin typeface="Arial Nova Light" panose="020B0304020202020204" pitchFamily="34" charset="0"/>
              </a:rPr>
              <a:t>Enable batch processing of multiple resumes for a single job description.</a:t>
            </a:r>
          </a:p>
          <a:p>
            <a:r>
              <a:rPr lang="en-US">
                <a:latin typeface="Arial Nova Light" panose="020B0304020202020204" pitchFamily="34" charset="0"/>
              </a:rPr>
              <a:t>Accept job description input and generate semantic embeddings for resumes and job descriptions.</a:t>
            </a:r>
          </a:p>
          <a:p>
            <a:r>
              <a:rPr lang="en-US">
                <a:latin typeface="Arial Nova Light" panose="020B0304020202020204" pitchFamily="34" charset="0"/>
              </a:rPr>
              <a:t>Compute embedding-based similarity scores between resumes and job requirements.</a:t>
            </a:r>
          </a:p>
          <a:p>
            <a:r>
              <a:rPr lang="en-US">
                <a:latin typeface="Arial Nova Light" panose="020B0304020202020204" pitchFamily="34" charset="0"/>
              </a:rPr>
              <a:t>Evaluate candidate alignment across skills, experience, education, and project work.</a:t>
            </a:r>
          </a:p>
          <a:p>
            <a:r>
              <a:rPr lang="en-US">
                <a:latin typeface="Arial Nova Light" panose="020B0304020202020204" pitchFamily="34" charset="0"/>
              </a:rPr>
              <a:t>Rank candidates based on computed similarity scores without automatic filtering or rejection.</a:t>
            </a:r>
          </a:p>
          <a:p>
            <a:r>
              <a:rPr lang="en-US">
                <a:latin typeface="Arial Nova Light" panose="020B0304020202020204" pitchFamily="34" charset="0"/>
              </a:rPr>
              <a:t>Generate structured, plain-language explanations describing key alignment factors.</a:t>
            </a:r>
          </a:p>
          <a:p>
            <a:r>
              <a:rPr lang="en-US">
                <a:latin typeface="Arial Nova Light" panose="020B0304020202020204" pitchFamily="34" charset="0"/>
              </a:rPr>
              <a:t>Generate candidate-specific interview questions based on identified strengths and potential gaps.</a:t>
            </a:r>
          </a:p>
          <a:p>
            <a:r>
              <a:rPr lang="en-US">
                <a:latin typeface="Arial Nova Light" panose="020B0304020202020204" pitchFamily="34" charset="0"/>
              </a:rPr>
              <a:t>Provide a centralized dashboard displaying candidates, rankings, explanations, and interview content.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31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F1FA0-5F66-B5FC-538C-AA71A0E41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Nova Light" panose="020B0304020202020204" pitchFamily="34" charset="0"/>
              </a:rPr>
              <a:t>Non-Functional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70F92-247F-242E-DC00-502415245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673" y="1794692"/>
            <a:ext cx="8980472" cy="4322007"/>
          </a:xfrm>
        </p:spPr>
        <p:txBody>
          <a:bodyPr>
            <a:normAutofit lnSpcReduction="10000"/>
          </a:bodyPr>
          <a:lstStyle/>
          <a:p>
            <a:r>
              <a:rPr lang="en-US">
                <a:latin typeface="Arial Nova Light" panose="020B0304020202020204" pitchFamily="34" charset="0"/>
              </a:rPr>
              <a:t>Provide transparent and explainable ranking outputs that clearly communicate evaluation logic to recruiters.</a:t>
            </a:r>
          </a:p>
          <a:p>
            <a:r>
              <a:rPr lang="en-US">
                <a:latin typeface="Arial Nova Light" panose="020B0304020202020204" pitchFamily="34" charset="0"/>
              </a:rPr>
              <a:t>Ensure that protected demographic attributes are not used, inferred, or incorporated into ranking calculations.</a:t>
            </a:r>
          </a:p>
          <a:p>
            <a:r>
              <a:rPr lang="en-US">
                <a:latin typeface="Arial Nova Light" panose="020B0304020202020204" pitchFamily="34" charset="0"/>
              </a:rPr>
              <a:t>Maintain reasonable response time for prototype use, with ranking results returned within approximately 30 seconds per batch.</a:t>
            </a:r>
          </a:p>
          <a:p>
            <a:r>
              <a:rPr lang="en-US">
                <a:latin typeface="Arial Nova Light" panose="020B0304020202020204" pitchFamily="34" charset="0"/>
              </a:rPr>
              <a:t>Support modular architecture that allows replacement of parsing, embedding, or LLM components without major refactoring.</a:t>
            </a:r>
          </a:p>
          <a:p>
            <a:r>
              <a:rPr lang="en-US">
                <a:latin typeface="Arial Nova Light" panose="020B0304020202020204" pitchFamily="34" charset="0"/>
              </a:rPr>
              <a:t>Handle uploaded resume data securely and limit persistent storage to demonstration needs.</a:t>
            </a:r>
          </a:p>
          <a:p>
            <a:r>
              <a:rPr lang="en-US">
                <a:latin typeface="Arial Nova Light" panose="020B0304020202020204" pitchFamily="34" charset="0"/>
              </a:rPr>
              <a:t>Deliver an intuitive user interface that requires minimal training for recruiter use.</a:t>
            </a:r>
          </a:p>
          <a:p>
            <a:r>
              <a:rPr lang="en-US">
                <a:latin typeface="Arial Nova Light" panose="020B0304020202020204" pitchFamily="34" charset="0"/>
              </a:rPr>
              <a:t>Operate within computational constraints appropriate for an academic prototype environment.</a:t>
            </a:r>
          </a:p>
        </p:txBody>
      </p:sp>
    </p:spTree>
    <p:extLst>
      <p:ext uri="{BB962C8B-B14F-4D97-AF65-F5344CB8AC3E}">
        <p14:creationId xmlns:p14="http://schemas.microsoft.com/office/powerpoint/2010/main" val="2712757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79DC5-31E9-8FF5-CEAE-7653CA3C8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Nova Light" panose="020B0304020202020204" pitchFamily="34" charset="0"/>
              </a:rPr>
              <a:t>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55FF9-EC63-0F9E-2634-8B00A2BC2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28800"/>
            <a:ext cx="8906933" cy="3916230"/>
          </a:xfrm>
        </p:spPr>
        <p:txBody>
          <a:bodyPr/>
          <a:lstStyle/>
          <a:p>
            <a:r>
              <a:rPr lang="en-US">
                <a:latin typeface="Arial Nova Light" panose="020B0304020202020204" pitchFamily="34" charset="0"/>
              </a:rPr>
              <a:t>Recruiters will use the system as a decision-support tool rather than an automated hiring system.</a:t>
            </a:r>
          </a:p>
          <a:p>
            <a:r>
              <a:rPr lang="en-US">
                <a:latin typeface="Arial Nova Light" panose="020B0304020202020204" pitchFamily="34" charset="0"/>
              </a:rPr>
              <a:t>Uploaded resumes will be provided in standard PDF or Word (.docx) formats with extractable text.</a:t>
            </a:r>
          </a:p>
          <a:p>
            <a:r>
              <a:rPr lang="en-US">
                <a:latin typeface="Arial Nova Light" panose="020B0304020202020204" pitchFamily="34" charset="0"/>
              </a:rPr>
              <a:t>Job descriptions will contain sufficient detail to support meaningful semantic comparison.</a:t>
            </a:r>
          </a:p>
          <a:p>
            <a:r>
              <a:rPr lang="en-US">
                <a:latin typeface="Arial Nova Light" panose="020B0304020202020204" pitchFamily="34" charset="0"/>
              </a:rPr>
              <a:t>The system will be deployed as an academic prototype and not as a production-scale enterprise solution.</a:t>
            </a:r>
          </a:p>
        </p:txBody>
      </p:sp>
    </p:spTree>
    <p:extLst>
      <p:ext uri="{BB962C8B-B14F-4D97-AF65-F5344CB8AC3E}">
        <p14:creationId xmlns:p14="http://schemas.microsoft.com/office/powerpoint/2010/main" val="2633617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E8406-6B32-9E40-375C-F4AD5D064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Nova Light" panose="020B0304020202020204" pitchFamily="34" charset="0"/>
              </a:rPr>
              <a:t>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DFCDF-684E-CBD2-E84C-23CB4348E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333" y="1737256"/>
            <a:ext cx="8596668" cy="3880773"/>
          </a:xfrm>
        </p:spPr>
        <p:txBody>
          <a:bodyPr/>
          <a:lstStyle/>
          <a:p>
            <a:r>
              <a:rPr lang="en-US">
                <a:latin typeface="Arial Nova Light" panose="020B0304020202020204" pitchFamily="34" charset="0"/>
              </a:rPr>
              <a:t>The system will not automatically reject, filter, or remove candidates from consideration.</a:t>
            </a:r>
          </a:p>
          <a:p>
            <a:r>
              <a:rPr lang="en-US">
                <a:latin typeface="Arial Nova Light" panose="020B0304020202020204" pitchFamily="34" charset="0"/>
              </a:rPr>
              <a:t>Protected demographic attributes (e.g., age, gender, race, ethnicity) will not be used or inferred in ranking logic.</a:t>
            </a:r>
          </a:p>
          <a:p>
            <a:r>
              <a:rPr lang="en-US">
                <a:latin typeface="Arial Nova Light" panose="020B0304020202020204" pitchFamily="34" charset="0"/>
              </a:rPr>
              <a:t>The solution must operate within limited computational resources suitable for demonstration use.</a:t>
            </a:r>
          </a:p>
          <a:p>
            <a:r>
              <a:rPr lang="en-US">
                <a:latin typeface="Arial Nova Light" panose="020B0304020202020204" pitchFamily="34" charset="0"/>
              </a:rPr>
              <a:t>The project must be completed within the academic semester timeline and milestone deadlines.</a:t>
            </a:r>
          </a:p>
          <a:p>
            <a:r>
              <a:rPr lang="en-US">
                <a:latin typeface="Arial Nova Light" panose="020B0304020202020204" pitchFamily="34" charset="0"/>
              </a:rPr>
              <a:t>The architecture must remain modular to allow replacement of parsing or model components without significant restructuring.</a:t>
            </a:r>
          </a:p>
        </p:txBody>
      </p:sp>
    </p:spTree>
    <p:extLst>
      <p:ext uri="{BB962C8B-B14F-4D97-AF65-F5344CB8AC3E}">
        <p14:creationId xmlns:p14="http://schemas.microsoft.com/office/powerpoint/2010/main" val="2423064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0DF09-8626-DD6E-9664-68EF86F41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Nova Light" panose="020B0304020202020204" pitchFamily="34" charset="0"/>
              </a:rPr>
              <a:t>Project Upkeep Costs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D836C-B5BB-5CE5-9946-0F190B1FC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13455"/>
            <a:ext cx="8596668" cy="3880773"/>
          </a:xfrm>
        </p:spPr>
        <p:txBody>
          <a:bodyPr/>
          <a:lstStyle/>
          <a:p>
            <a:r>
              <a:rPr lang="en-US">
                <a:latin typeface="Arial Nova Light" panose="020B0304020202020204" pitchFamily="34" charset="0"/>
              </a:rPr>
              <a:t>The system is designed to operate at no recurring cost during the academic prototype phase.</a:t>
            </a:r>
          </a:p>
          <a:p>
            <a:r>
              <a:rPr lang="en-US">
                <a:latin typeface="Arial Nova Light" panose="020B0304020202020204" pitchFamily="34" charset="0"/>
              </a:rPr>
              <a:t>LLM inference will remain within free-tier API limits or utilize locally hosted open-source models to avoid usage fees.</a:t>
            </a:r>
          </a:p>
          <a:p>
            <a:r>
              <a:rPr lang="en-US">
                <a:latin typeface="Arial Nova Light" panose="020B0304020202020204" pitchFamily="34" charset="0"/>
              </a:rPr>
              <a:t>Development and testing will primarily occur in local environments, eliminating cloud infrastructure expenses.</a:t>
            </a:r>
          </a:p>
          <a:p>
            <a:r>
              <a:rPr lang="en-US">
                <a:latin typeface="Arial Nova Light" panose="020B0304020202020204" pitchFamily="34" charset="0"/>
              </a:rPr>
              <a:t>MongoDB and hosting services will utilize free-tier plans where applicable.</a:t>
            </a:r>
          </a:p>
          <a:p>
            <a:r>
              <a:rPr lang="en-US">
                <a:latin typeface="Arial Nova Light" panose="020B0304020202020204" pitchFamily="34" charset="0"/>
              </a:rPr>
              <a:t>Long-term production deployment would introduce inference, hosting, and storage costs, but these are outside the scope of the current academic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35272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7E86C0A-ECA4-97C4-BB38-0BF613B82B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500" y="2773"/>
            <a:ext cx="11548241" cy="66597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D2D64DF-AC41-E90B-6477-80F08F78F67F}"/>
              </a:ext>
            </a:extLst>
          </p:cNvPr>
          <p:cNvSpPr txBox="1"/>
          <p:nvPr/>
        </p:nvSpPr>
        <p:spPr>
          <a:xfrm>
            <a:off x="5731934" y="382781"/>
            <a:ext cx="167832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>
                <a:hlinkClick r:id="rId3"/>
              </a:rPr>
              <a:t>Ctrl + Click to view</a:t>
            </a:r>
            <a:endParaRPr lang="en-US" sz="1200" i="1"/>
          </a:p>
        </p:txBody>
      </p:sp>
    </p:spTree>
    <p:extLst>
      <p:ext uri="{BB962C8B-B14F-4D97-AF65-F5344CB8AC3E}">
        <p14:creationId xmlns:p14="http://schemas.microsoft.com/office/powerpoint/2010/main" val="2905543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88C9B83F-64CD-41C1-925F-A08801FFD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1655065-0BD7-4422-BEC0-4401E9980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DDD90AC-ABEC-4A76-9C9C-AD0A5F8FC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23">
              <a:extLst>
                <a:ext uri="{FF2B5EF4-FFF2-40B4-BE49-F238E27FC236}">
                  <a16:creationId xmlns:a16="http://schemas.microsoft.com/office/drawing/2014/main" id="{21A8AFEF-EC50-4C0B-9C64-814B76C82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5">
              <a:extLst>
                <a:ext uri="{FF2B5EF4-FFF2-40B4-BE49-F238E27FC236}">
                  <a16:creationId xmlns:a16="http://schemas.microsoft.com/office/drawing/2014/main" id="{CAFAA800-E117-4357-84E4-56B63EA03E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8DDFC9F4-3B45-402D-8AD7-60B3F08ED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Rectangle 27">
              <a:extLst>
                <a:ext uri="{FF2B5EF4-FFF2-40B4-BE49-F238E27FC236}">
                  <a16:creationId xmlns:a16="http://schemas.microsoft.com/office/drawing/2014/main" id="{F26A0854-FBE4-4587-B349-06BE192BD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8">
              <a:extLst>
                <a:ext uri="{FF2B5EF4-FFF2-40B4-BE49-F238E27FC236}">
                  <a16:creationId xmlns:a16="http://schemas.microsoft.com/office/drawing/2014/main" id="{54A9C4C6-FF7D-470E-BFCA-CE4F60A1F0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9">
              <a:extLst>
                <a:ext uri="{FF2B5EF4-FFF2-40B4-BE49-F238E27FC236}">
                  <a16:creationId xmlns:a16="http://schemas.microsoft.com/office/drawing/2014/main" id="{B1721EA8-4871-45D4-B78F-AE805A3004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E5763971-E3A3-45C6-9BA8-2E032C7A55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Isosceles Triangle 24">
              <a:extLst>
                <a:ext uri="{FF2B5EF4-FFF2-40B4-BE49-F238E27FC236}">
                  <a16:creationId xmlns:a16="http://schemas.microsoft.com/office/drawing/2014/main" id="{32752E94-0E01-4AF5-A43A-F2FAD8737C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B8065C5-9AB7-9B88-E6F4-805F2A244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0563" y="1678665"/>
            <a:ext cx="3887839" cy="237216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5000"/>
              <a:t>System Architecture Design</a:t>
            </a:r>
          </a:p>
        </p:txBody>
      </p:sp>
      <p:pic>
        <p:nvPicPr>
          <p:cNvPr id="28" name="Picture 2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65BABE2-A9AB-A2DB-C6CA-11E2B7B56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454" y="0"/>
            <a:ext cx="39695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38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FF1ED-39C8-3511-9AF7-62DFE0354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Nova Light"/>
              </a:rPr>
              <a:t>System Data Model Design</a:t>
            </a:r>
            <a:endParaRPr lang="en-US"/>
          </a:p>
        </p:txBody>
      </p:sp>
      <p:pic>
        <p:nvPicPr>
          <p:cNvPr id="4" name="Content Placeholder 3" descr="A black background with green squares&#10;&#10;AI-generated content may be incorrect.">
            <a:extLst>
              <a:ext uri="{FF2B5EF4-FFF2-40B4-BE49-F238E27FC236}">
                <a16:creationId xmlns:a16="http://schemas.microsoft.com/office/drawing/2014/main" id="{3D6102E7-DEF1-162F-AD4D-F7EE876860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565" y="2186454"/>
            <a:ext cx="9632205" cy="326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292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4580B-9551-732D-8AEF-38E534B90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Nova Light" panose="020B0304020202020204" pitchFamily="34" charset="0"/>
              </a:rPr>
              <a:t>Gantt Chart (Milestone 1)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750D9B-7499-E9D4-205B-96E8C5086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593" y="1279939"/>
            <a:ext cx="9396274" cy="5296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9584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9F1F5-8023-E6BE-D5F9-71F795DFD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4004" y="-96078"/>
            <a:ext cx="8596668" cy="1320800"/>
          </a:xfrm>
        </p:spPr>
        <p:txBody>
          <a:bodyPr/>
          <a:lstStyle/>
          <a:p>
            <a:r>
              <a:rPr lang="en-US">
                <a:latin typeface="Arial Nova Light" panose="020B0304020202020204" pitchFamily="34" charset="0"/>
              </a:rPr>
              <a:t>Gantt Chart Overall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F842E8-17DB-715F-A1E7-8E197C11D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94" y="250948"/>
            <a:ext cx="8596668" cy="6607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7020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241804" y="1460500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8D736EF-ED56-2248-73A9-00632740E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816638"/>
            <a:ext cx="2743200" cy="5224724"/>
          </a:xfrm>
        </p:spPr>
        <p:txBody>
          <a:bodyPr anchor="ctr">
            <a:normAutofit/>
          </a:bodyPr>
          <a:lstStyle/>
          <a:p>
            <a:r>
              <a:rPr lang="en-US">
                <a:latin typeface="Arial Nova Light" panose="020B0304020202020204" pitchFamily="34" charset="0"/>
              </a:rPr>
              <a:t>Tech Stack Decision and Justification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0AA20-5C7C-B237-F961-86B4944F4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4204" y="226285"/>
            <a:ext cx="5350929" cy="640542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>
                <a:latin typeface="Arial Nova Light" panose="020B0304020202020204" pitchFamily="34" charset="0"/>
              </a:rPr>
              <a:t>.</a:t>
            </a:r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932A9A-68AE-572D-4285-6CD29F84D971}"/>
              </a:ext>
            </a:extLst>
          </p:cNvPr>
          <p:cNvSpPr txBox="1"/>
          <p:nvPr/>
        </p:nvSpPr>
        <p:spPr>
          <a:xfrm>
            <a:off x="4326470" y="474344"/>
            <a:ext cx="5173129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>
                <a:latin typeface="Arial Nova Light" panose="020B0304020202020204" pitchFamily="34" charset="0"/>
              </a:rPr>
              <a:t>Large Language Model: Llama 3.1 8B Instruct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>
                <a:latin typeface="Arial Nova Light" panose="020B0304020202020204" pitchFamily="34" charset="0"/>
              </a:rPr>
              <a:t>Selected after benchmarking five open-source LLMs.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>
                <a:latin typeface="Arial Nova Light" panose="020B0304020202020204" pitchFamily="34" charset="0"/>
              </a:rPr>
              <a:t>Demonstrated highest JSON reliability, schema consistency, and extraction accuracy.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>
                <a:latin typeface="Arial Nova Light" panose="020B0304020202020204" pitchFamily="34" charset="0"/>
              </a:rPr>
              <a:t>Maintained structural integrity under formatting variation and OCR-style noise.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>
                <a:latin typeface="Arial Nova Light" panose="020B0304020202020204" pitchFamily="34" charset="0"/>
              </a:rPr>
              <a:t>Prioritizes downstream stability over marginal speed improvements.</a:t>
            </a:r>
          </a:p>
          <a:p>
            <a:pPr>
              <a:buNone/>
            </a:pPr>
            <a:r>
              <a:rPr lang="en-US" sz="1400" b="1">
                <a:latin typeface="Arial Nova Light" panose="020B0304020202020204" pitchFamily="34" charset="0"/>
              </a:rPr>
              <a:t>Semantic Matching: Sentence Transformers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>
                <a:latin typeface="Arial Nova Light" panose="020B0304020202020204" pitchFamily="34" charset="0"/>
              </a:rPr>
              <a:t>Uses embedding-based comparison instead of keyword matching.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>
                <a:latin typeface="Arial Nova Light" panose="020B0304020202020204" pitchFamily="34" charset="0"/>
              </a:rPr>
              <a:t>Enables similarity scoring across skills, experience, education, and projects.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>
                <a:latin typeface="Arial Nova Light" panose="020B0304020202020204" pitchFamily="34" charset="0"/>
              </a:rPr>
              <a:t>Improves ranking accuracy and contextual alignment.</a:t>
            </a:r>
          </a:p>
          <a:p>
            <a:pPr>
              <a:buNone/>
            </a:pPr>
            <a:r>
              <a:rPr lang="en-US" sz="1400" b="1">
                <a:latin typeface="Arial Nova Light" panose="020B0304020202020204" pitchFamily="34" charset="0"/>
              </a:rPr>
              <a:t>Database: MongoDB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>
                <a:latin typeface="Arial Nova Light" panose="020B0304020202020204" pitchFamily="34" charset="0"/>
              </a:rPr>
              <a:t>Document-based schema supports semi-structured resume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>
                <a:latin typeface="Arial Nova Light" panose="020B0304020202020204" pitchFamily="34" charset="0"/>
              </a:rPr>
              <a:t>Flexible structure aligns with extracted JSON candidate profiles.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>
                <a:latin typeface="Arial Nova Light" panose="020B0304020202020204" pitchFamily="34" charset="0"/>
              </a:rPr>
              <a:t>Scales naturally with ranking outputs and interview data.</a:t>
            </a:r>
          </a:p>
          <a:p>
            <a:pPr>
              <a:buNone/>
            </a:pPr>
            <a:r>
              <a:rPr lang="en-US" sz="1400" b="1">
                <a:latin typeface="Arial Nova Light" panose="020B0304020202020204" pitchFamily="34" charset="0"/>
              </a:rPr>
              <a:t>Frontend &amp; Backend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>
                <a:latin typeface="Arial Nova Light" panose="020B0304020202020204" pitchFamily="34" charset="0"/>
              </a:rPr>
              <a:t>React frontend for modular UI and dashboard components.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>
                <a:latin typeface="Arial Nova Light" panose="020B0304020202020204" pitchFamily="34" charset="0"/>
              </a:rPr>
              <a:t>Python API backend for resume parsing, embedding generation, and ranking logic.</a:t>
            </a:r>
          </a:p>
          <a:p>
            <a:pPr>
              <a:buNone/>
            </a:pPr>
            <a:r>
              <a:rPr lang="en-US" sz="1400" b="1">
                <a:latin typeface="Arial Nova Light" panose="020B0304020202020204" pitchFamily="34" charset="0"/>
              </a:rPr>
              <a:t>Deployment Strategy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>
                <a:latin typeface="Arial Nova Light" panose="020B0304020202020204" pitchFamily="34" charset="0"/>
              </a:rPr>
              <a:t>API-based inference via Hugging Face (preferred for prototype).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>
                <a:latin typeface="Arial Nova Light" panose="020B0304020202020204" pitchFamily="34" charset="0"/>
              </a:rPr>
              <a:t>Local deployment available as fallback option.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>
                <a:latin typeface="Arial Nova Light" panose="020B0304020202020204" pitchFamily="34" charset="0"/>
              </a:rPr>
              <a:t>Fallback to smaller model (Llama 3.2 3B) if API constraints arise.</a:t>
            </a:r>
          </a:p>
        </p:txBody>
      </p:sp>
    </p:spTree>
    <p:extLst>
      <p:ext uri="{BB962C8B-B14F-4D97-AF65-F5344CB8AC3E}">
        <p14:creationId xmlns:p14="http://schemas.microsoft.com/office/powerpoint/2010/main" val="42005581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3A524-02DB-9399-D283-990CE89E8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Nova Light" panose="020B0304020202020204" pitchFamily="34" charset="0"/>
              </a:rPr>
              <a:t>Action Plan for Milestone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E42DC-FC94-8CE7-EE1E-C5C40AF98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86456"/>
            <a:ext cx="9379226" cy="4296901"/>
          </a:xfrm>
        </p:spPr>
        <p:txBody>
          <a:bodyPr>
            <a:normAutofit lnSpcReduction="10000"/>
          </a:bodyPr>
          <a:lstStyle/>
          <a:p>
            <a:r>
              <a:rPr lang="en-US">
                <a:latin typeface="Arial Nova Light" panose="020B0304020202020204" pitchFamily="34" charset="0"/>
              </a:rPr>
              <a:t>Implement the resume ingestion and parsing pipeline to support PDF and Word (.docx) uploads with structured text extraction.</a:t>
            </a:r>
          </a:p>
          <a:p>
            <a:r>
              <a:rPr lang="en-US">
                <a:latin typeface="Arial Nova Light" panose="020B0304020202020204" pitchFamily="34" charset="0"/>
              </a:rPr>
              <a:t>Develop semantic matching functionality, including embedding generation and similarity computation between resumes and job descriptions.</a:t>
            </a:r>
          </a:p>
          <a:p>
            <a:r>
              <a:rPr lang="en-US">
                <a:latin typeface="Arial Nova Light" panose="020B0304020202020204" pitchFamily="34" charset="0"/>
              </a:rPr>
              <a:t>Design and implement the candidate ranking algorithm with weighted scoring across skills, experience, education, and project categories.</a:t>
            </a:r>
          </a:p>
          <a:p>
            <a:r>
              <a:rPr lang="en-US">
                <a:latin typeface="Arial Nova Light" panose="020B0304020202020204" pitchFamily="34" charset="0"/>
              </a:rPr>
              <a:t>Integrate the interview question generation module based on identified strengths and gaps.</a:t>
            </a:r>
          </a:p>
          <a:p>
            <a:r>
              <a:rPr lang="en-US">
                <a:latin typeface="Arial Nova Light" panose="020B0304020202020204" pitchFamily="34" charset="0"/>
              </a:rPr>
              <a:t>Complete end-to-end system integration connecting the frontend, backend API, LLM components, and database.</a:t>
            </a:r>
          </a:p>
          <a:p>
            <a:r>
              <a:rPr lang="en-US">
                <a:latin typeface="Arial Nova Light" panose="020B0304020202020204" pitchFamily="34" charset="0"/>
              </a:rPr>
              <a:t>Conduct internal testing to validate ranking accuracy, response time, and workflow stability.</a:t>
            </a:r>
          </a:p>
          <a:p>
            <a:r>
              <a:rPr lang="en-US">
                <a:latin typeface="Arial Nova Light" panose="020B0304020202020204" pitchFamily="34" charset="0"/>
              </a:rPr>
              <a:t>Finalize documentation and prepare the mid-semester demonstration.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7130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B4C03-5FC6-7B2A-A61E-677E2F64A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69" y="1735668"/>
            <a:ext cx="8596668" cy="1826581"/>
          </a:xfrm>
        </p:spPr>
        <p:txBody>
          <a:bodyPr/>
          <a:lstStyle/>
          <a:p>
            <a:r>
              <a:rPr lang="en-US">
                <a:latin typeface="Arial Nova Light" panose="020B0304020202020204" pitchFamily="34" charset="0"/>
              </a:rPr>
              <a:t>Questions and Comments</a:t>
            </a:r>
          </a:p>
        </p:txBody>
      </p:sp>
    </p:spTree>
    <p:extLst>
      <p:ext uri="{BB962C8B-B14F-4D97-AF65-F5344CB8AC3E}">
        <p14:creationId xmlns:p14="http://schemas.microsoft.com/office/powerpoint/2010/main" val="256440852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Custom 2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536142"/>
      </a:accent2>
      <a:accent3>
        <a:srgbClr val="DEE4CA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8486D78E62B4B4AA3202EB49D9CE649" ma:contentTypeVersion="15" ma:contentTypeDescription="Create a new document." ma:contentTypeScope="" ma:versionID="7e80c9224d51e8121f1c4c503ca6e5e7">
  <xsd:schema xmlns:xsd="http://www.w3.org/2001/XMLSchema" xmlns:xs="http://www.w3.org/2001/XMLSchema" xmlns:p="http://schemas.microsoft.com/office/2006/metadata/properties" xmlns:ns3="bce7fc3e-1330-4890-aea6-136b5134ca01" xmlns:ns4="7cd335e1-5a0d-4e1f-adc4-fc55cb40f6cc" targetNamespace="http://schemas.microsoft.com/office/2006/metadata/properties" ma:root="true" ma:fieldsID="f5c0579cea758b2eedd6299a7b125e16" ns3:_="" ns4:_="">
    <xsd:import namespace="bce7fc3e-1330-4890-aea6-136b5134ca01"/>
    <xsd:import namespace="7cd335e1-5a0d-4e1f-adc4-fc55cb40f6cc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_activity" minOccurs="0"/>
                <xsd:element ref="ns4:MediaServiceObjectDetectorVersions" minOccurs="0"/>
                <xsd:element ref="ns4:MediaServiceSearchProperties" minOccurs="0"/>
                <xsd:element ref="ns4:MediaServiceDateTaken" minOccurs="0"/>
                <xsd:element ref="ns4:MediaServiceSystem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LengthInSeconds" minOccurs="0"/>
                <xsd:element ref="ns4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e7fc3e-1330-4890-aea6-136b5134ca0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d335e1-5a0d-4e1f-adc4-fc55cb40f6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cd335e1-5a0d-4e1f-adc4-fc55cb40f6cc" xsi:nil="true"/>
  </documentManagement>
</p:properties>
</file>

<file path=customXml/itemProps1.xml><?xml version="1.0" encoding="utf-8"?>
<ds:datastoreItem xmlns:ds="http://schemas.openxmlformats.org/officeDocument/2006/customXml" ds:itemID="{6243ED27-600A-4B22-A2D2-471A2AAAA3FA}">
  <ds:schemaRefs>
    <ds:schemaRef ds:uri="7cd335e1-5a0d-4e1f-adc4-fc55cb40f6cc"/>
    <ds:schemaRef ds:uri="bce7fc3e-1330-4890-aea6-136b5134ca0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E06B8E1-8111-4AFB-89AA-AC6447BD87E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F5E1BBE-BE28-4282-8B26-813EF2B0BC56}">
  <ds:schemaRefs>
    <ds:schemaRef ds:uri="7cd335e1-5a0d-4e1f-adc4-fc55cb40f6cc"/>
    <ds:schemaRef ds:uri="bce7fc3e-1330-4890-aea6-136b5134ca0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Application>Microsoft Office PowerPoint</Application>
  <PresentationFormat>Widescreen</PresentationFormat>
  <Slides>17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Facet</vt:lpstr>
      <vt:lpstr>Smart Resume Screening and Interview Prep Assistant: Milestone 1 Report</vt:lpstr>
      <vt:lpstr>Agenda</vt:lpstr>
      <vt:lpstr>Project Overview</vt:lpstr>
      <vt:lpstr>Milestone 1 Overview and Objectives</vt:lpstr>
      <vt:lpstr>Functional Requirements</vt:lpstr>
      <vt:lpstr>Non-Functional Requirements</vt:lpstr>
      <vt:lpstr>Assumptions</vt:lpstr>
      <vt:lpstr>Constraints</vt:lpstr>
      <vt:lpstr>Project Upkeep Costs</vt:lpstr>
      <vt:lpstr>PowerPoint Presentation</vt:lpstr>
      <vt:lpstr>System Architecture Design</vt:lpstr>
      <vt:lpstr>System Data Model Design</vt:lpstr>
      <vt:lpstr>Gantt Chart (Milestone 1)</vt:lpstr>
      <vt:lpstr>Gantt Chart Overall</vt:lpstr>
      <vt:lpstr>Tech Stack Decision and Justification</vt:lpstr>
      <vt:lpstr>Action Plan for Milestone 2</vt:lpstr>
      <vt:lpstr>Questions and Comments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Loreli Olien</dc:creator>
  <cp:revision>2</cp:revision>
  <dcterms:created xsi:type="dcterms:W3CDTF">2026-02-21T19:38:25Z</dcterms:created>
  <dcterms:modified xsi:type="dcterms:W3CDTF">2026-05-03T22:57:54Z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0x01010088486D78E62B4B4AA3202EB49D9CE649</vt:lpwstr>
  </property>
</Properties>
</file>